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</p:sldIdLst>
  <p:notesMasterIdLst>
    <p:notesMasterId r:id="rId12"/>
  </p:notesMasterIdLst>
  <p:sldSz cx="9144000" cy="5143500"/>
  <p:notesSz cx="5143500" cy="9144000"/>
  <p:embeddedFontLst>
    <p:embeddedFont>
      <p:font typeface="Merriweather"/>
      <p:regular r:id="rId17"/>
    </p:embeddedFont>
    <p:embeddedFont>
      <p:font typeface="Merriweather Bold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Relationship Id="rId3" Type="http://schemas.openxmlformats.org/officeDocument/2006/relationships/image" Target="../media/diag_0_conceptual.png"/>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Relationship Id="rId3" Type="http://schemas.openxmlformats.org/officeDocument/2006/relationships/image" Target="../media/diag_0_modelo_logico.png"/>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enum_log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pic>
        <p:nvPicPr>
          <p:cNvPr id="5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pic>
        <p:nvPicPr>
          <p:cNvPr id="6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1783080" cy="178308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30352" y="566928"/>
            <a:ext cx="2331720" cy="256032"/>
          </a:xfrm>
          <a:prstGeom prst="roundRect">
            <a:avLst/>
          </a:prstGeom>
          <a:solidFill>
            <a:srgbClr val="0B5394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566928" y="603504"/>
            <a:ext cx="2258568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00" b="1">
                <a:solidFill>
                  <a:srgbClr val="FFFFFF"/>
                </a:solidFill>
                <a:latin typeface="Arial"/>
              </a:rPr>
              <a:t>BASES DE DADOS · 2025/2026</a:t>
            </a:r>
            <a:endParaRPr lang="pt-PT" sz="800"/>
          </a:p>
        </p:txBody>
      </p:sp>
      <p:sp>
        <p:nvSpPr>
          <p:cNvPr id="9" name="Text 9"/>
          <p:cNvSpPr txBox="1"/>
          <p:nvPr/>
        </p:nvSpPr>
        <p:spPr>
          <a:xfrm>
            <a:off x="502920" y="1078992"/>
            <a:ext cx="566928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700" b="1">
                <a:solidFill>
                  <a:srgbClr val="073763"/>
                </a:solidFill>
                <a:latin typeface="Arial"/>
              </a:rPr>
              <a:t>Feira de Emprego Nacional da</a:t>
            </a:r>
            <a:endParaRPr lang="pt-PT" sz="2700"/>
          </a:p>
          <a:p>
            <a:pPr algn="l">
              <a:lnSpc>
                <a:spcPct val="112000"/>
              </a:lnSpc>
              <a:buNone/>
            </a:pPr>
            <a:r>
              <a:rPr lang="pt-PT" sz="2700" b="1">
                <a:solidFill>
                  <a:srgbClr val="073763"/>
                </a:solidFill>
                <a:latin typeface="Arial"/>
              </a:rPr>
              <a:t>Universidade do Minho</a:t>
            </a:r>
            <a:endParaRPr lang="pt-PT" sz="2700"/>
          </a:p>
        </p:txBody>
      </p:sp>
      <p:sp>
        <p:nvSpPr>
          <p:cNvPr id="10" name="Shape 10"/>
          <p:cNvSpPr/>
          <p:nvPr/>
        </p:nvSpPr>
        <p:spPr>
          <a:xfrm>
            <a:off x="530352" y="2084832"/>
            <a:ext cx="2057400" cy="41148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30352" y="2304288"/>
            <a:ext cx="5394960" cy="30175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400">
                <a:solidFill>
                  <a:srgbClr val="172033"/>
                </a:solidFill>
                <a:latin typeface="Arial"/>
              </a:rPr>
              <a:t>Sistema de Gestão de Base de Dados para a FENUM</a:t>
            </a:r>
            <a:endParaRPr lang="pt-PT" sz="1400"/>
          </a:p>
        </p:txBody>
      </p:sp>
      <p:sp>
        <p:nvSpPr>
          <p:cNvPr id="12" name="Text 12"/>
          <p:cNvSpPr txBox="1"/>
          <p:nvPr/>
        </p:nvSpPr>
        <p:spPr>
          <a:xfrm>
            <a:off x="530352" y="27889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80.0000000000001">
                <a:solidFill>
                  <a:srgbClr val="4F6070"/>
                </a:solidFill>
                <a:latin typeface="Arial"/>
              </a:rPr>
              <a:t>Dinis Peixoto · Gonçalo Monteiro · Gonçalo Soares · José Novais · Rafaela Antunes</a:t>
            </a:r>
            <a:endParaRPr lang="pt-PT" sz="880.0000000000001"/>
          </a:p>
        </p:txBody>
      </p:sp>
      <p:sp>
        <p:nvSpPr>
          <p:cNvPr id="13" name="Text 13"/>
          <p:cNvSpPr txBox="1"/>
          <p:nvPr/>
        </p:nvSpPr>
        <p:spPr>
          <a:xfrm>
            <a:off x="530352" y="31546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80.0000000000001" b="1">
                <a:solidFill>
                  <a:srgbClr val="4F6070"/>
                </a:solidFill>
                <a:latin typeface="Arial"/>
              </a:rPr>
              <a:t>Maio de 2026</a:t>
            </a:r>
            <a:endParaRPr lang="pt-PT" sz="880.000000000000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ESTRUTURA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Plano da apresentação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02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3385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 apresentação segue a mesma lógica do projeto: problema, requisitos, modelo e implementação.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85800" y="1627632"/>
            <a:ext cx="384048" cy="329184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01</a:t>
            </a:r>
            <a:endParaRPr lang="pt-PT" sz="1000"/>
          </a:p>
        </p:txBody>
      </p:sp>
      <p:sp>
        <p:nvSpPr>
          <p:cNvPr id="12" name="Text 12"/>
          <p:cNvSpPr txBox="1"/>
          <p:nvPr/>
        </p:nvSpPr>
        <p:spPr>
          <a:xfrm>
            <a:off x="1234440" y="163677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50.0" b="1">
                <a:solidFill>
                  <a:srgbClr val="073763"/>
                </a:solidFill>
                <a:latin typeface="Arial"/>
              </a:rPr>
              <a:t>Contexto</a:t>
            </a:r>
            <a:endParaRPr lang="pt-PT" sz="1150.0"/>
          </a:p>
        </p:txBody>
      </p:sp>
      <p:sp>
        <p:nvSpPr>
          <p:cNvPr id="13" name="Text 13"/>
          <p:cNvSpPr txBox="1"/>
          <p:nvPr/>
        </p:nvSpPr>
        <p:spPr>
          <a:xfrm>
            <a:off x="2743200" y="164592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Necessidade de uma base de dados</a:t>
            </a:r>
            <a:endParaRPr lang="pt-PT" sz="1050.0"/>
          </a:p>
        </p:txBody>
      </p:sp>
      <p:sp>
        <p:nvSpPr>
          <p:cNvPr id="14" name="Text 14"/>
          <p:cNvSpPr txBox="1"/>
          <p:nvPr/>
        </p:nvSpPr>
        <p:spPr>
          <a:xfrm>
            <a:off x="685800" y="2194560"/>
            <a:ext cx="384048" cy="329184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02</a:t>
            </a:r>
            <a:endParaRPr lang="pt-PT" sz="1000"/>
          </a:p>
        </p:txBody>
      </p:sp>
      <p:sp>
        <p:nvSpPr>
          <p:cNvPr id="15" name="Text 15"/>
          <p:cNvSpPr txBox="1"/>
          <p:nvPr/>
        </p:nvSpPr>
        <p:spPr>
          <a:xfrm>
            <a:off x="1234440" y="220370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50.0" b="1">
                <a:solidFill>
                  <a:srgbClr val="073763"/>
                </a:solidFill>
                <a:latin typeface="Arial"/>
              </a:rPr>
              <a:t>Requisitos</a:t>
            </a:r>
            <a:endParaRPr lang="pt-PT" sz="1150.0"/>
          </a:p>
        </p:txBody>
      </p:sp>
      <p:sp>
        <p:nvSpPr>
          <p:cNvPr id="16" name="Text 16"/>
          <p:cNvSpPr txBox="1"/>
          <p:nvPr/>
        </p:nvSpPr>
        <p:spPr>
          <a:xfrm>
            <a:off x="2743200" y="2212848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O que o sistema tem de guardar, manipular e controlar</a:t>
            </a:r>
            <a:endParaRPr lang="pt-PT" sz="1050.0"/>
          </a:p>
        </p:txBody>
      </p:sp>
      <p:sp>
        <p:nvSpPr>
          <p:cNvPr id="17" name="Text 17"/>
          <p:cNvSpPr txBox="1"/>
          <p:nvPr/>
        </p:nvSpPr>
        <p:spPr>
          <a:xfrm>
            <a:off x="685800" y="2761488"/>
            <a:ext cx="384048" cy="329184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03</a:t>
            </a:r>
            <a:endParaRPr lang="pt-PT" sz="1000"/>
          </a:p>
        </p:txBody>
      </p:sp>
      <p:sp>
        <p:nvSpPr>
          <p:cNvPr id="18" name="Text 18"/>
          <p:cNvSpPr txBox="1"/>
          <p:nvPr/>
        </p:nvSpPr>
        <p:spPr>
          <a:xfrm>
            <a:off x="1234440" y="277063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50.0" b="1">
                <a:solidFill>
                  <a:srgbClr val="073763"/>
                </a:solidFill>
                <a:latin typeface="Arial"/>
              </a:rPr>
              <a:t>Modelo</a:t>
            </a:r>
            <a:endParaRPr lang="pt-PT" sz="1150.0"/>
          </a:p>
        </p:txBody>
      </p:sp>
      <p:sp>
        <p:nvSpPr>
          <p:cNvPr id="19" name="Text 19"/>
          <p:cNvSpPr txBox="1"/>
          <p:nvPr/>
        </p:nvSpPr>
        <p:spPr>
          <a:xfrm>
            <a:off x="2743200" y="2779776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Como as entidades e relações foram estruturadas</a:t>
            </a:r>
            <a:endParaRPr lang="pt-PT" sz="1050.0"/>
          </a:p>
        </p:txBody>
      </p:sp>
      <p:sp>
        <p:nvSpPr>
          <p:cNvPr id="20" name="Text 20"/>
          <p:cNvSpPr txBox="1"/>
          <p:nvPr/>
        </p:nvSpPr>
        <p:spPr>
          <a:xfrm>
            <a:off x="685800" y="3328416"/>
            <a:ext cx="384048" cy="329184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04</a:t>
            </a:r>
            <a:endParaRPr lang="pt-PT" sz="1000"/>
          </a:p>
        </p:txBody>
      </p:sp>
      <p:sp>
        <p:nvSpPr>
          <p:cNvPr id="21" name="Text 21"/>
          <p:cNvSpPr txBox="1"/>
          <p:nvPr/>
        </p:nvSpPr>
        <p:spPr>
          <a:xfrm>
            <a:off x="1234440" y="333756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50.0" b="1">
                <a:solidFill>
                  <a:srgbClr val="073763"/>
                </a:solidFill>
                <a:latin typeface="Arial"/>
              </a:rPr>
              <a:t>Implementação</a:t>
            </a:r>
            <a:endParaRPr lang="pt-PT" sz="1150.0"/>
          </a:p>
        </p:txBody>
      </p:sp>
      <p:sp>
        <p:nvSpPr>
          <p:cNvPr id="22" name="Text 22"/>
          <p:cNvSpPr txBox="1"/>
          <p:nvPr/>
        </p:nvSpPr>
        <p:spPr>
          <a:xfrm>
            <a:off x="2743200" y="3346704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SQL, povoamento, views, índices e automação</a:t>
            </a:r>
            <a:endParaRPr lang="pt-PT" sz="1050.0"/>
          </a:p>
        </p:txBody>
      </p:sp>
      <p:sp>
        <p:nvSpPr>
          <p:cNvPr id="23" name="Text 23"/>
          <p:cNvSpPr txBox="1"/>
          <p:nvPr/>
        </p:nvSpPr>
        <p:spPr>
          <a:xfrm>
            <a:off x="685800" y="3895344"/>
            <a:ext cx="384048" cy="329184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05</a:t>
            </a:r>
            <a:endParaRPr lang="pt-PT" sz="1000"/>
          </a:p>
        </p:txBody>
      </p:sp>
      <p:sp>
        <p:nvSpPr>
          <p:cNvPr id="24" name="Text 24"/>
          <p:cNvSpPr txBox="1"/>
          <p:nvPr/>
        </p:nvSpPr>
        <p:spPr>
          <a:xfrm>
            <a:off x="1234440" y="390448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50.0" b="1">
                <a:solidFill>
                  <a:srgbClr val="073763"/>
                </a:solidFill>
                <a:latin typeface="Arial"/>
              </a:rPr>
              <a:t>Conclusão</a:t>
            </a:r>
            <a:endParaRPr lang="pt-PT" sz="1150.0"/>
          </a:p>
        </p:txBody>
      </p:sp>
      <p:sp>
        <p:nvSpPr>
          <p:cNvPr id="25" name="Text 25"/>
          <p:cNvSpPr txBox="1"/>
          <p:nvPr/>
        </p:nvSpPr>
        <p:spPr>
          <a:xfrm>
            <a:off x="2743200" y="391363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O que foi entregue e o que pode evoluir</a:t>
            </a:r>
            <a:endParaRPr lang="pt-PT" sz="1050.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RESUMO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Visão geral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03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 projeto cria uma base de dados relacional para centralizar a gestão da FENUM e substituir registos dispersos por uma fonte de informação consistente.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731520" y="196596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0B5394"/>
                </a:solidFill>
                <a:latin typeface="Arial"/>
              </a:rPr>
              <a:t>17</a:t>
            </a:r>
            <a:endParaRPr lang="pt-PT" sz="2400"/>
          </a:p>
        </p:txBody>
      </p:sp>
      <p:sp>
        <p:nvSpPr>
          <p:cNvPr id="12" name="Text 12"/>
          <p:cNvSpPr txBox="1"/>
          <p:nvPr/>
        </p:nvSpPr>
        <p:spPr>
          <a:xfrm>
            <a:off x="731520" y="235000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tabelas no modelo lógico</a:t>
            </a:r>
            <a:endParaRPr lang="pt-PT" sz="850.0"/>
          </a:p>
        </p:txBody>
      </p:sp>
      <p:sp>
        <p:nvSpPr>
          <p:cNvPr id="13" name="Text 13"/>
          <p:cNvSpPr txBox="1"/>
          <p:nvPr/>
        </p:nvSpPr>
        <p:spPr>
          <a:xfrm>
            <a:off x="2514600" y="196596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2E7D32"/>
                </a:solidFill>
                <a:latin typeface="Arial"/>
              </a:rPr>
              <a:t>3FN</a:t>
            </a:r>
            <a:endParaRPr lang="pt-PT" sz="2400"/>
          </a:p>
        </p:txBody>
      </p:sp>
      <p:sp>
        <p:nvSpPr>
          <p:cNvPr id="14" name="Text 14"/>
          <p:cNvSpPr txBox="1"/>
          <p:nvPr/>
        </p:nvSpPr>
        <p:spPr>
          <a:xfrm>
            <a:off x="2514600" y="235000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normalização aplicada</a:t>
            </a:r>
            <a:endParaRPr lang="pt-PT" sz="850.0"/>
          </a:p>
        </p:txBody>
      </p:sp>
      <p:sp>
        <p:nvSpPr>
          <p:cNvPr id="15" name="Text 15"/>
          <p:cNvSpPr txBox="1"/>
          <p:nvPr/>
        </p:nvSpPr>
        <p:spPr>
          <a:xfrm>
            <a:off x="4297680" y="1965960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0B5394"/>
                </a:solidFill>
                <a:latin typeface="Arial"/>
              </a:rPr>
              <a:t>3</a:t>
            </a:r>
            <a:endParaRPr lang="pt-PT" sz="2400"/>
          </a:p>
        </p:txBody>
      </p:sp>
      <p:sp>
        <p:nvSpPr>
          <p:cNvPr id="16" name="Text 16"/>
          <p:cNvSpPr txBox="1"/>
          <p:nvPr/>
        </p:nvSpPr>
        <p:spPr>
          <a:xfrm>
            <a:off x="4297680" y="235000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perfis de acesso</a:t>
            </a:r>
            <a:endParaRPr lang="pt-PT" sz="850.0"/>
          </a:p>
        </p:txBody>
      </p:sp>
      <p:sp>
        <p:nvSpPr>
          <p:cNvPr id="17" name="Text 17"/>
          <p:cNvSpPr txBox="1"/>
          <p:nvPr/>
        </p:nvSpPr>
        <p:spPr>
          <a:xfrm>
            <a:off x="6080760" y="196596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F6C343"/>
                </a:solidFill>
                <a:latin typeface="Arial"/>
              </a:rPr>
              <a:t>3,32 MB</a:t>
            </a:r>
            <a:endParaRPr lang="pt-PT" sz="2400"/>
          </a:p>
        </p:txBody>
      </p:sp>
      <p:sp>
        <p:nvSpPr>
          <p:cNvPr id="18" name="Text 18"/>
          <p:cNvSpPr txBox="1"/>
          <p:nvPr/>
        </p:nvSpPr>
        <p:spPr>
          <a:xfrm>
            <a:off x="6080760" y="2350008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estimativa inicial</a:t>
            </a:r>
            <a:endParaRPr lang="pt-PT" sz="850.0"/>
          </a:p>
        </p:txBody>
      </p:sp>
      <p:sp>
        <p:nvSpPr>
          <p:cNvPr id="19" name="Text 19"/>
          <p:cNvSpPr txBox="1"/>
          <p:nvPr/>
        </p:nvSpPr>
        <p:spPr>
          <a:xfrm>
            <a:off x="594360" y="2999232"/>
            <a:ext cx="25146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Entidades centrais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Estudantes, empresas, propostas, candidaturas, palestras, inscrições, bancas, staff e oradores.</a:t>
            </a:r>
            <a:endParaRPr lang="pt-PT" sz="950.0"/>
          </a:p>
        </p:txBody>
      </p:sp>
      <p:sp>
        <p:nvSpPr>
          <p:cNvPr id="20" name="Text 20"/>
          <p:cNvSpPr txBox="1"/>
          <p:nvPr/>
        </p:nvSpPr>
        <p:spPr>
          <a:xfrm>
            <a:off x="3337560" y="2999232"/>
            <a:ext cx="25146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Regras de negócio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A base valida lotações, estados de candidaturas e relações entre os intervenientes.</a:t>
            </a:r>
            <a:endParaRPr lang="pt-PT" sz="950.0"/>
          </a:p>
        </p:txBody>
      </p:sp>
      <p:sp>
        <p:nvSpPr>
          <p:cNvPr id="21" name="Text 21"/>
          <p:cNvSpPr txBox="1"/>
          <p:nvPr/>
        </p:nvSpPr>
        <p:spPr>
          <a:xfrm>
            <a:off x="6080760" y="2999232"/>
            <a:ext cx="25146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Exploração de dados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Views e consultas SQL respondem a questões operacionais e apoiam decisões futuras.</a:t>
            </a:r>
            <a:endParaRPr lang="pt-PT" sz="950.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1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Contexto do problema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04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594360" y="14173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261E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Situação inicial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A informação do evento estava espalhada por formulários, folhas de cálculo e registos manuais.</a:t>
            </a:r>
            <a:endParaRPr lang="pt-PT" sz="1050.0"/>
          </a:p>
        </p:txBody>
      </p:sp>
      <p:sp>
        <p:nvSpPr>
          <p:cNvPr id="11" name="Text 11"/>
          <p:cNvSpPr txBox="1"/>
          <p:nvPr/>
        </p:nvSpPr>
        <p:spPr>
          <a:xfrm>
            <a:off x="3337560" y="14173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Risco operacional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Duplicação de dados, atrasos no atendimento e dificuldade em acompanhar candidaturas em tempo útil.</a:t>
            </a:r>
            <a:endParaRPr lang="pt-PT" sz="1050.0"/>
          </a:p>
        </p:txBody>
      </p:sp>
      <p:sp>
        <p:nvSpPr>
          <p:cNvPr id="12" name="Text 12"/>
          <p:cNvSpPr txBox="1"/>
          <p:nvPr/>
        </p:nvSpPr>
        <p:spPr>
          <a:xfrm>
            <a:off x="6080760" y="141732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Resposta proposta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Uma base relacional centralizada, com integridade referencial, permissões e consultas preparadas.</a:t>
            </a:r>
            <a:endParaRPr lang="pt-PT" sz="1050.0"/>
          </a:p>
        </p:txBody>
      </p:sp>
      <p:sp>
        <p:nvSpPr>
          <p:cNvPr id="13" name="Text 13"/>
          <p:cNvSpPr txBox="1"/>
          <p:nvPr/>
        </p:nvSpPr>
        <p:spPr>
          <a:xfrm>
            <a:off x="713232" y="324612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300" b="1">
                <a:solidFill>
                  <a:srgbClr val="073763"/>
                </a:solidFill>
                <a:latin typeface="Arial"/>
              </a:rPr>
              <a:t>Impacto esperado</a:t>
            </a:r>
            <a:endParaRPr lang="pt-PT" sz="1300"/>
          </a:p>
        </p:txBody>
      </p:sp>
      <p:sp>
        <p:nvSpPr>
          <p:cNvPr id="14" name="Text 14"/>
          <p:cNvSpPr txBox="1"/>
          <p:nvPr/>
        </p:nvSpPr>
        <p:spPr>
          <a:xfrm>
            <a:off x="685800" y="3611880"/>
            <a:ext cx="7223760" cy="731520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A base de dados funciona como fonte única de verdade: reduz redundância, melhora a rastreabilidade e dá suporte à organização da feira.</a:t>
            </a:r>
            <a:endParaRPr lang="pt-PT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1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Objetivos do sistema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05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 solução foi desenhada para resolver problemas práticos de organização, consulta e controlo do evento.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85800" y="1600200"/>
            <a:ext cx="1463040" cy="347472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Centralizar</a:t>
            </a:r>
            <a:endParaRPr lang="pt-PT" sz="1000"/>
          </a:p>
        </p:txBody>
      </p:sp>
      <p:sp>
        <p:nvSpPr>
          <p:cNvPr id="12" name="Text 12"/>
          <p:cNvSpPr txBox="1"/>
          <p:nvPr/>
        </p:nvSpPr>
        <p:spPr>
          <a:xfrm>
            <a:off x="2331720" y="1636776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Guardar a informação crítica num único esquema relacional.</a:t>
            </a:r>
            <a:endParaRPr lang="pt-PT" sz="1050.0"/>
          </a:p>
        </p:txBody>
      </p:sp>
      <p:sp>
        <p:nvSpPr>
          <p:cNvPr id="13" name="Text 13"/>
          <p:cNvSpPr txBox="1"/>
          <p:nvPr/>
        </p:nvSpPr>
        <p:spPr>
          <a:xfrm>
            <a:off x="685800" y="2130552"/>
            <a:ext cx="146304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Validar</a:t>
            </a:r>
            <a:endParaRPr lang="pt-PT" sz="1000"/>
          </a:p>
        </p:txBody>
      </p:sp>
      <p:sp>
        <p:nvSpPr>
          <p:cNvPr id="14" name="Text 14"/>
          <p:cNvSpPr txBox="1"/>
          <p:nvPr/>
        </p:nvSpPr>
        <p:spPr>
          <a:xfrm>
            <a:off x="2331720" y="2167128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Impedir dados inválidos através de chaves, domínios e restrições.</a:t>
            </a:r>
            <a:endParaRPr lang="pt-PT" sz="1050.0"/>
          </a:p>
        </p:txBody>
      </p:sp>
      <p:sp>
        <p:nvSpPr>
          <p:cNvPr id="15" name="Text 15"/>
          <p:cNvSpPr txBox="1"/>
          <p:nvPr/>
        </p:nvSpPr>
        <p:spPr>
          <a:xfrm>
            <a:off x="685800" y="2660904"/>
            <a:ext cx="1463040" cy="347472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Consultar</a:t>
            </a:r>
            <a:endParaRPr lang="pt-PT" sz="1000"/>
          </a:p>
        </p:txBody>
      </p:sp>
      <p:sp>
        <p:nvSpPr>
          <p:cNvPr id="16" name="Text 16"/>
          <p:cNvSpPr txBox="1"/>
          <p:nvPr/>
        </p:nvSpPr>
        <p:spPr>
          <a:xfrm>
            <a:off x="2331720" y="269748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Responder rapidamente a questões de estudantes, empresas e organização.</a:t>
            </a:r>
            <a:endParaRPr lang="pt-PT" sz="1050.0"/>
          </a:p>
        </p:txBody>
      </p:sp>
      <p:sp>
        <p:nvSpPr>
          <p:cNvPr id="17" name="Text 17"/>
          <p:cNvSpPr txBox="1"/>
          <p:nvPr/>
        </p:nvSpPr>
        <p:spPr>
          <a:xfrm>
            <a:off x="685800" y="3191256"/>
            <a:ext cx="146304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Controlar</a:t>
            </a:r>
            <a:endParaRPr lang="pt-PT" sz="1000"/>
          </a:p>
        </p:txBody>
      </p:sp>
      <p:sp>
        <p:nvSpPr>
          <p:cNvPr id="18" name="Text 18"/>
          <p:cNvSpPr txBox="1"/>
          <p:nvPr/>
        </p:nvSpPr>
        <p:spPr>
          <a:xfrm>
            <a:off x="2331720" y="3227832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Aplicar permissões diferentes para staff, empresas e estudantes.</a:t>
            </a:r>
            <a:endParaRPr lang="pt-PT" sz="1050.0"/>
          </a:p>
        </p:txBody>
      </p:sp>
      <p:sp>
        <p:nvSpPr>
          <p:cNvPr id="19" name="Text 19"/>
          <p:cNvSpPr txBox="1"/>
          <p:nvPr/>
        </p:nvSpPr>
        <p:spPr>
          <a:xfrm>
            <a:off x="685800" y="3721608"/>
            <a:ext cx="1463040" cy="347472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 b="1">
                <a:solidFill>
                  <a:srgbClr val="FFFFFF"/>
                </a:solidFill>
                <a:latin typeface="Arial"/>
              </a:rPr>
              <a:t>Automatizar</a:t>
            </a:r>
            <a:endParaRPr lang="pt-PT" sz="1000"/>
          </a:p>
        </p:txBody>
      </p:sp>
      <p:sp>
        <p:nvSpPr>
          <p:cNvPr id="20" name="Text 20"/>
          <p:cNvSpPr txBox="1"/>
          <p:nvPr/>
        </p:nvSpPr>
        <p:spPr>
          <a:xfrm>
            <a:off x="2331720" y="3758184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Executar regras críticas no SGBD através de triggers e rotinas SQL.</a:t>
            </a:r>
            <a:endParaRPr lang="pt-PT" sz="1050.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1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Viabilidade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06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 solução é viável porque o domínio encaixa naturalmente num modelo relacional.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594360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Técnica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Entidades bem definidas e relações claras: Estudante, Empresa, Proposta, Palestra, Candidatura e Inscrição.</a:t>
            </a:r>
            <a:endParaRPr lang="pt-PT" sz="1050.0"/>
          </a:p>
        </p:txBody>
      </p:sp>
      <p:sp>
        <p:nvSpPr>
          <p:cNvPr id="12" name="Text 12"/>
          <p:cNvSpPr txBox="1"/>
          <p:nvPr/>
        </p:nvSpPr>
        <p:spPr>
          <a:xfrm>
            <a:off x="3337560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Organizacional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A base responde a necessidades reais da organização: consultar, validar, acompanhar e planear o evento.</a:t>
            </a:r>
            <a:endParaRPr lang="pt-PT" sz="1050.0"/>
          </a:p>
        </p:txBody>
      </p:sp>
      <p:sp>
        <p:nvSpPr>
          <p:cNvPr id="13" name="Text 13"/>
          <p:cNvSpPr txBox="1"/>
          <p:nvPr/>
        </p:nvSpPr>
        <p:spPr>
          <a:xfrm>
            <a:off x="6080760" y="164592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Operacional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Reduz trabalho manual, melhora a rastreabilidade e torna mais fácil responder a questões sobre o evento.</a:t>
            </a:r>
            <a:endParaRPr lang="pt-PT" sz="1050.0"/>
          </a:p>
        </p:txBody>
      </p:sp>
      <p:sp>
        <p:nvSpPr>
          <p:cNvPr id="14" name="Text 14"/>
          <p:cNvSpPr txBox="1"/>
          <p:nvPr/>
        </p:nvSpPr>
        <p:spPr>
          <a:xfrm>
            <a:off x="960120" y="3657600"/>
            <a:ext cx="6583680" cy="65836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Síntese</a:t>
            </a:r>
            <a:endParaRPr lang="pt-PT" sz="1200"/>
          </a:p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O problema não exigia uma solução complexa fora do modelo relacional; exigia uma estrutura consistente e bem normalizada.</a:t>
            </a:r>
            <a:endParaRPr lang="pt-PT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1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Ferramentas e execução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07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 projeto foi organizado por fases, desde a análise do problema até à implementação física.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731520" y="1691640"/>
            <a:ext cx="2148840" cy="1097280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FFFFFF"/>
                </a:solidFill>
                <a:latin typeface="Arial"/>
              </a:rPr>
              <a:t>BrModelo</a:t>
            </a:r>
            <a:endParaRPr lang="pt-PT" sz="1100"/>
          </a:p>
        </p:txBody>
      </p:sp>
      <p:sp>
        <p:nvSpPr>
          <p:cNvPr id="12" name="Text 12"/>
          <p:cNvSpPr txBox="1"/>
          <p:nvPr/>
        </p:nvSpPr>
        <p:spPr>
          <a:xfrm>
            <a:off x="868680" y="233172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Modelo conceptual e diagrama Entidade-Relacionamento.</a:t>
            </a:r>
            <a:endParaRPr lang="pt-PT" sz="980.0000000000001"/>
          </a:p>
        </p:txBody>
      </p:sp>
      <p:sp>
        <p:nvSpPr>
          <p:cNvPr id="13" name="Text 13"/>
          <p:cNvSpPr txBox="1"/>
          <p:nvPr/>
        </p:nvSpPr>
        <p:spPr>
          <a:xfrm>
            <a:off x="3474720" y="1691640"/>
            <a:ext cx="2148840" cy="1097280"/>
          </a:xfrm>
          <a:prstGeom prst="roundRect">
            <a:avLst/>
          </a:prstGeom>
          <a:solidFill>
            <a:srgbClr val="0B5394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FFFFFF"/>
                </a:solidFill>
                <a:latin typeface="Arial"/>
              </a:rPr>
              <a:t>MySQL Workbench</a:t>
            </a:r>
            <a:endParaRPr lang="pt-PT" sz="1100"/>
          </a:p>
        </p:txBody>
      </p:sp>
      <p:sp>
        <p:nvSpPr>
          <p:cNvPr id="14" name="Text 14"/>
          <p:cNvSpPr txBox="1"/>
          <p:nvPr/>
        </p:nvSpPr>
        <p:spPr>
          <a:xfrm>
            <a:off x="3611880" y="233172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Modelo lógico, esquema relacional e apoio à geração SQL.</a:t>
            </a:r>
            <a:endParaRPr lang="pt-PT" sz="980.0000000000001"/>
          </a:p>
        </p:txBody>
      </p:sp>
      <p:sp>
        <p:nvSpPr>
          <p:cNvPr id="15" name="Text 15"/>
          <p:cNvSpPr txBox="1"/>
          <p:nvPr/>
        </p:nvSpPr>
        <p:spPr>
          <a:xfrm>
            <a:off x="6217920" y="1691640"/>
            <a:ext cx="2148840" cy="10972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FFFFFF"/>
                </a:solidFill>
                <a:latin typeface="Arial"/>
              </a:rPr>
              <a:t>MySQL</a:t>
            </a:r>
            <a:endParaRPr lang="pt-PT" sz="1100"/>
          </a:p>
        </p:txBody>
      </p:sp>
      <p:sp>
        <p:nvSpPr>
          <p:cNvPr id="16" name="Text 16"/>
          <p:cNvSpPr txBox="1"/>
          <p:nvPr/>
        </p:nvSpPr>
        <p:spPr>
          <a:xfrm>
            <a:off x="6355080" y="233172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Implementação física, povoamento, views, roles, índices e triggers.</a:t>
            </a:r>
            <a:endParaRPr lang="pt-PT" sz="980.0000000000001"/>
          </a:p>
        </p:txBody>
      </p:sp>
      <p:sp>
        <p:nvSpPr>
          <p:cNvPr id="17" name="Text 17"/>
          <p:cNvSpPr txBox="1"/>
          <p:nvPr/>
        </p:nvSpPr>
        <p:spPr>
          <a:xfrm>
            <a:off x="731520" y="34290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300" b="1">
                <a:solidFill>
                  <a:srgbClr val="073763"/>
                </a:solidFill>
                <a:latin typeface="Arial"/>
              </a:rPr>
              <a:t>Fases do trabalho</a:t>
            </a:r>
            <a:endParaRPr lang="pt-PT" sz="1300"/>
          </a:p>
        </p:txBody>
      </p:sp>
      <p:sp>
        <p:nvSpPr>
          <p:cNvPr id="18" name="Text 18"/>
          <p:cNvSpPr txBox="1"/>
          <p:nvPr/>
        </p:nvSpPr>
        <p:spPr>
          <a:xfrm>
            <a:off x="868680" y="382219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Definição do sistema → Requisitos → Modelo conceptual → Modelo lógico → Implementação física → Validação</a:t>
            </a:r>
            <a:endParaRPr lang="pt-PT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2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Levantamento de requisitos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08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Os requisitos foram organizados em três grupos para facilitar a passagem para o modelo e para o SQL.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566928" y="169164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Descrição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RD01–RD10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/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Que informação o sistema tem de guardar: estudantes, empresas, propostas, palestras, inscrições, candidaturas, bancas, staff e oradores.</a:t>
            </a:r>
            <a:endParaRPr lang="pt-PT" sz="1000"/>
          </a:p>
        </p:txBody>
      </p:sp>
      <p:sp>
        <p:nvSpPr>
          <p:cNvPr id="12" name="Text 12"/>
          <p:cNvSpPr txBox="1"/>
          <p:nvPr/>
        </p:nvSpPr>
        <p:spPr>
          <a:xfrm>
            <a:off x="3401568" y="169164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Manipulação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RM01–RM10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/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Que operações devem existir: atualizar candidaturas, consultar agendas, listar propostas populares e identificar empresas sem candidaturas.</a:t>
            </a:r>
            <a:endParaRPr lang="pt-PT" sz="1000"/>
          </a:p>
        </p:txBody>
      </p:sp>
      <p:sp>
        <p:nvSpPr>
          <p:cNvPr id="13" name="Text 13"/>
          <p:cNvSpPr txBox="1"/>
          <p:nvPr/>
        </p:nvSpPr>
        <p:spPr>
          <a:xfrm>
            <a:off x="6236208" y="1691640"/>
            <a:ext cx="2331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Controlo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RC01–RC04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/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Que acessos cada perfil deve ter: organização, empresa e estudante não podem ver nem alterar a mesma informação.</a:t>
            </a:r>
            <a:endParaRPr lang="pt-PT" sz="1000"/>
          </a:p>
        </p:txBody>
      </p:sp>
      <p:sp>
        <p:nvSpPr>
          <p:cNvPr id="14" name="Text 14"/>
          <p:cNvSpPr txBox="1"/>
          <p:nvPr/>
        </p:nvSpPr>
        <p:spPr>
          <a:xfrm>
            <a:off x="640080" y="434340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073763"/>
                </a:solidFill>
                <a:latin typeface="Arial"/>
              </a:rPr>
              <a:t>Rastreabilidade: cada requisito tem reflexo direto no modelo ou no SQL final.</a:t>
            </a:r>
            <a:endParaRPr lang="pt-PT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2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User stories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09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6751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As user stories ajudaram a transformar necessidades do evento em requisitos testáveis.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594360" y="1627632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Como organização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quero registar estudantes e empresas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para manter uma identificação única e consistente.</a:t>
            </a:r>
            <a:endParaRPr lang="pt-PT" sz="1019.9999999999999"/>
          </a:p>
        </p:txBody>
      </p:sp>
      <p:sp>
        <p:nvSpPr>
          <p:cNvPr id="12" name="Text 12"/>
          <p:cNvSpPr txBox="1"/>
          <p:nvPr/>
        </p:nvSpPr>
        <p:spPr>
          <a:xfrm>
            <a:off x="3337560" y="1627632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Como estudante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quero inscrever-me em palestras e candidatar-me a propostas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para participar na feira.</a:t>
            </a:r>
            <a:endParaRPr lang="pt-PT" sz="1019.9999999999999"/>
          </a:p>
        </p:txBody>
      </p:sp>
      <p:sp>
        <p:nvSpPr>
          <p:cNvPr id="13" name="Text 13"/>
          <p:cNvSpPr txBox="1"/>
          <p:nvPr/>
        </p:nvSpPr>
        <p:spPr>
          <a:xfrm>
            <a:off x="6080760" y="1627632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Como empresa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quero consultar candidaturas e entrevistas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para acompanhar o recrutamento.</a:t>
            </a:r>
            <a:endParaRPr lang="pt-PT" sz="1019.9999999999999"/>
          </a:p>
        </p:txBody>
      </p:sp>
      <p:sp>
        <p:nvSpPr>
          <p:cNvPr id="14" name="Text 14"/>
          <p:cNvSpPr txBox="1"/>
          <p:nvPr/>
        </p:nvSpPr>
        <p:spPr>
          <a:xfrm>
            <a:off x="1874520" y="333756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Como staff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quero gerir salas, bancas e permissões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para garantir o funcionamento do evento.</a:t>
            </a:r>
            <a:endParaRPr lang="pt-PT" sz="1019.9999999999999"/>
          </a:p>
        </p:txBody>
      </p:sp>
      <p:sp>
        <p:nvSpPr>
          <p:cNvPr id="15" name="Text 15"/>
          <p:cNvSpPr txBox="1"/>
          <p:nvPr/>
        </p:nvSpPr>
        <p:spPr>
          <a:xfrm>
            <a:off x="4617720" y="333756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Como sistema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quero validar lotações e estados</a:t>
            </a:r>
            <a:endParaRPr lang="pt-PT" sz="1019.9999999999999"/>
          </a:p>
          <a:p>
            <a:pPr algn="l">
              <a:lnSpc>
                <a:spcPct val="112000"/>
              </a:lnSpc>
              <a:buNone/>
            </a:pPr>
            <a:r>
              <a:rPr lang="pt-PT" sz="1019.9999999999999">
                <a:solidFill>
                  <a:srgbClr val="172033"/>
                </a:solidFill>
                <a:latin typeface="Arial"/>
              </a:rPr>
              <a:t>para evitar incoerências nos dados.</a:t>
            </a:r>
            <a:endParaRPr lang="pt-PT" sz="1019.999999999999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3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Modelo conceptual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10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 modelação conceptual identificou as entidades principais do domínio da FENUM e as relações entre elas.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85800" y="169164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Participantes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Estudante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Staff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Orador</a:t>
            </a:r>
            <a:endParaRPr lang="pt-PT" sz="1100"/>
          </a:p>
        </p:txBody>
      </p:sp>
      <p:sp>
        <p:nvSpPr>
          <p:cNvPr id="12" name="Text 12"/>
          <p:cNvSpPr txBox="1"/>
          <p:nvPr/>
        </p:nvSpPr>
        <p:spPr>
          <a:xfrm>
            <a:off x="2880360" y="169164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Evento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Palestra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Sala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Banca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Inscrição</a:t>
            </a:r>
            <a:endParaRPr lang="pt-PT" sz="1100"/>
          </a:p>
        </p:txBody>
      </p:sp>
      <p:sp>
        <p:nvSpPr>
          <p:cNvPr id="13" name="Text 13"/>
          <p:cNvSpPr txBox="1"/>
          <p:nvPr/>
        </p:nvSpPr>
        <p:spPr>
          <a:xfrm>
            <a:off x="5074920" y="169164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Recrutamento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Empresa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Proposta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Candidatura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Avaliação</a:t>
            </a:r>
            <a:endParaRPr lang="pt-PT" sz="1100"/>
          </a:p>
        </p:txBody>
      </p:sp>
      <p:sp>
        <p:nvSpPr>
          <p:cNvPr id="14" name="Text 14"/>
          <p:cNvSpPr txBox="1"/>
          <p:nvPr/>
        </p:nvSpPr>
        <p:spPr>
          <a:xfrm>
            <a:off x="7269480" y="1691640"/>
            <a:ext cx="1600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Atributos multivalorados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• Competências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• Áreas de interesse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• Contactos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• Setores</a:t>
            </a:r>
            <a:endParaRPr lang="pt-PT" sz="950.0"/>
          </a:p>
        </p:txBody>
      </p:sp>
      <p:sp>
        <p:nvSpPr>
          <p:cNvPr id="15" name="Text 15"/>
          <p:cNvSpPr txBox="1"/>
          <p:nvPr/>
        </p:nvSpPr>
        <p:spPr>
          <a:xfrm>
            <a:off x="868680" y="3493008"/>
            <a:ext cx="6995160" cy="685800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Decisão de modelação</a:t>
            </a:r>
            <a:endParaRPr lang="pt-PT" sz="1200"/>
          </a:p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Separámos conceitos diferentes em entidades próprias para evitar duplicação e facilitar consultas.</a:t>
            </a:r>
            <a:endParaRPr lang="pt-PT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pic>
        <p:nvPicPr>
          <p:cNvPr id="5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320040" y="1280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700" b="1">
                <a:solidFill>
                  <a:srgbClr val="0B5394"/>
                </a:solidFill>
                <a:latin typeface="Arial"/>
              </a:rPr>
              <a:t>CAPÍTULO 3</a:t>
            </a:r>
            <a:endParaRPr lang="pt-PT" sz="700"/>
          </a:p>
        </p:txBody>
      </p:sp>
      <p:sp>
        <p:nvSpPr>
          <p:cNvPr id="7" name="Text 7"/>
          <p:cNvSpPr txBox="1"/>
          <p:nvPr/>
        </p:nvSpPr>
        <p:spPr>
          <a:xfrm>
            <a:off x="320040" y="25603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600" b="1">
                <a:solidFill>
                  <a:srgbClr val="073763"/>
                </a:solidFill>
                <a:latin typeface="Arial"/>
              </a:rPr>
              <a:t>Diagrama conceptual (E-R)</a:t>
            </a:r>
            <a:endParaRPr lang="pt-PT" sz="1600"/>
          </a:p>
        </p:txBody>
      </p:sp>
      <p:sp>
        <p:nvSpPr>
          <p:cNvPr id="8" name="Text 8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11</a:t>
            </a:r>
            <a:endParaRPr lang="pt-PT" sz="700"/>
          </a:p>
        </p:txBody>
      </p:sp>
      <p:pic>
        <p:nvPicPr>
          <p:cNvPr id="9" name="diag_0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85800"/>
            <a:ext cx="896112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CAPÍTULOS 3 E 4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Fluxos principais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12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 modelo foi pensado em torno de dois fluxos principais: participação no evento e recrutamento.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40080" y="1691640"/>
            <a:ext cx="1828800" cy="56692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Estudante</a:t>
            </a:r>
            <a:endParaRPr lang="pt-PT" sz="900"/>
          </a:p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dados académicos e interesses</a:t>
            </a:r>
            <a:endParaRPr lang="pt-PT" sz="900"/>
          </a:p>
        </p:txBody>
      </p:sp>
      <p:sp>
        <p:nvSpPr>
          <p:cNvPr id="12" name="Text 12"/>
          <p:cNvSpPr txBox="1"/>
          <p:nvPr/>
        </p:nvSpPr>
        <p:spPr>
          <a:xfrm>
            <a:off x="3063240" y="1691640"/>
            <a:ext cx="1828800" cy="56692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Inscrição</a:t>
            </a:r>
            <a:endParaRPr lang="pt-PT" sz="900"/>
          </a:p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liga estudante a palestra</a:t>
            </a:r>
            <a:endParaRPr lang="pt-PT" sz="900"/>
          </a:p>
        </p:txBody>
      </p:sp>
      <p:sp>
        <p:nvSpPr>
          <p:cNvPr id="13" name="Text 13"/>
          <p:cNvSpPr txBox="1"/>
          <p:nvPr/>
        </p:nvSpPr>
        <p:spPr>
          <a:xfrm>
            <a:off x="5486400" y="1691640"/>
            <a:ext cx="1828800" cy="56692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Palestra</a:t>
            </a:r>
            <a:endParaRPr lang="pt-PT" sz="900"/>
          </a:p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sala, data, horário e oradores</a:t>
            </a:r>
            <a:endParaRPr lang="pt-PT" sz="900"/>
          </a:p>
        </p:txBody>
      </p:sp>
      <p:sp>
        <p:nvSpPr>
          <p:cNvPr id="14" name="Text 14"/>
          <p:cNvSpPr txBox="1"/>
          <p:nvPr/>
        </p:nvSpPr>
        <p:spPr>
          <a:xfrm>
            <a:off x="640080" y="3246120"/>
            <a:ext cx="1828800" cy="56692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Empresa</a:t>
            </a:r>
            <a:endParaRPr lang="pt-PT" sz="900"/>
          </a:p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contactos, setores e banca</a:t>
            </a:r>
            <a:endParaRPr lang="pt-PT" sz="900"/>
          </a:p>
        </p:txBody>
      </p:sp>
      <p:sp>
        <p:nvSpPr>
          <p:cNvPr id="15" name="Text 15"/>
          <p:cNvSpPr txBox="1"/>
          <p:nvPr/>
        </p:nvSpPr>
        <p:spPr>
          <a:xfrm>
            <a:off x="3063240" y="3246120"/>
            <a:ext cx="1828800" cy="56692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Proposta</a:t>
            </a:r>
            <a:endParaRPr lang="pt-PT" sz="900"/>
          </a:p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oferta e perfil procurado</a:t>
            </a:r>
            <a:endParaRPr lang="pt-PT" sz="900"/>
          </a:p>
        </p:txBody>
      </p:sp>
      <p:sp>
        <p:nvSpPr>
          <p:cNvPr id="16" name="Text 16"/>
          <p:cNvSpPr txBox="1"/>
          <p:nvPr/>
        </p:nvSpPr>
        <p:spPr>
          <a:xfrm>
            <a:off x="5486400" y="3246120"/>
            <a:ext cx="1828800" cy="56692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Candidatura</a:t>
            </a:r>
            <a:endParaRPr lang="pt-PT" sz="900"/>
          </a:p>
          <a:p>
            <a:pPr algn="l">
              <a:lnSpc>
                <a:spcPct val="112000"/>
              </a:lnSpc>
              <a:buNone/>
            </a:pPr>
            <a:r>
              <a:rPr lang="pt-PT" sz="900">
                <a:solidFill>
                  <a:srgbClr val="172033"/>
                </a:solidFill>
                <a:latin typeface="Arial"/>
              </a:rPr>
              <a:t>estado e avaliação</a:t>
            </a:r>
            <a:endParaRPr lang="pt-PT" sz="900"/>
          </a:p>
        </p:txBody>
      </p:sp>
      <p:sp>
        <p:nvSpPr>
          <p:cNvPr id="17" name="Shape 17"/>
          <p:cNvSpPr/>
          <p:nvPr/>
        </p:nvSpPr>
        <p:spPr>
          <a:xfrm>
            <a:off x="2468880" y="1956816"/>
            <a:ext cx="576072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4892040" y="1956816"/>
            <a:ext cx="576072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2468880" y="3511296"/>
            <a:ext cx="576072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4892040" y="3511296"/>
            <a:ext cx="576072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234440" y="4251960"/>
            <a:ext cx="6217920" cy="38404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D9EAF7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Relações N:M foram transformadas em tabelas associativas, como Inscricao, Apresentacao e Organizacao.</a:t>
            </a:r>
            <a:endParaRPr lang="pt-PT" sz="850.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4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Modelo lógico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13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70408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 modelo conceptual foi traduzido para tabelas relacionais no MySQL Workbench, com chaves primárias e estrangeiras.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85800" y="1600200"/>
            <a:ext cx="2423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Chaves primárias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Identificam univocamente cada registo.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/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Ex.: nr_mecanografico em Estudante; id_empresa em Empresa.</a:t>
            </a:r>
            <a:endParaRPr lang="pt-PT" sz="1000"/>
          </a:p>
        </p:txBody>
      </p:sp>
      <p:sp>
        <p:nvSpPr>
          <p:cNvPr id="12" name="Text 12"/>
          <p:cNvSpPr txBox="1"/>
          <p:nvPr/>
        </p:nvSpPr>
        <p:spPr>
          <a:xfrm>
            <a:off x="3364992" y="1600200"/>
            <a:ext cx="2423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Chaves estrangeiras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Ligam tabelas e garantem integridade referencial.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/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Ex.: Proposta aponta para Empresa; Candidatura aponta para Estudante e Proposta.</a:t>
            </a:r>
            <a:endParaRPr lang="pt-PT" sz="1000"/>
          </a:p>
        </p:txBody>
      </p:sp>
      <p:sp>
        <p:nvSpPr>
          <p:cNvPr id="13" name="Text 13"/>
          <p:cNvSpPr txBox="1"/>
          <p:nvPr/>
        </p:nvSpPr>
        <p:spPr>
          <a:xfrm>
            <a:off x="6044184" y="1600200"/>
            <a:ext cx="2423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Tabelas associativas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Representam relações muitos-para-muitos.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/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Ex.: Inscricao, Organizacao e Apresentacao.</a:t>
            </a:r>
            <a:endParaRPr lang="pt-PT" sz="1000"/>
          </a:p>
        </p:txBody>
      </p:sp>
      <p:sp>
        <p:nvSpPr>
          <p:cNvPr id="14" name="Text 14"/>
          <p:cNvSpPr txBox="1"/>
          <p:nvPr/>
        </p:nvSpPr>
        <p:spPr>
          <a:xfrm>
            <a:off x="731520" y="406908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073763"/>
                </a:solidFill>
                <a:latin typeface="Arial"/>
              </a:rPr>
              <a:t>Resultado: uma estrutura preparada para consultas sem quebrar a consistência dos dados.</a:t>
            </a:r>
            <a:endParaRPr lang="pt-PT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pic>
        <p:nvPicPr>
          <p:cNvPr id="5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320040" y="1280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700" b="1">
                <a:solidFill>
                  <a:srgbClr val="0B5394"/>
                </a:solidFill>
                <a:latin typeface="Arial"/>
              </a:rPr>
              <a:t>CAPÍTULO 4</a:t>
            </a:r>
            <a:endParaRPr lang="pt-PT" sz="700"/>
          </a:p>
        </p:txBody>
      </p:sp>
      <p:sp>
        <p:nvSpPr>
          <p:cNvPr id="7" name="Text 7"/>
          <p:cNvSpPr txBox="1"/>
          <p:nvPr/>
        </p:nvSpPr>
        <p:spPr>
          <a:xfrm>
            <a:off x="320040" y="25603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600" b="1">
                <a:solidFill>
                  <a:srgbClr val="073763"/>
                </a:solidFill>
                <a:latin typeface="Arial"/>
              </a:rPr>
              <a:t>Esquema relacional</a:t>
            </a:r>
            <a:endParaRPr lang="pt-PT" sz="1600"/>
          </a:p>
        </p:txBody>
      </p:sp>
      <p:sp>
        <p:nvSpPr>
          <p:cNvPr id="8" name="Text 8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14</a:t>
            </a:r>
            <a:endParaRPr lang="pt-PT" sz="700"/>
          </a:p>
        </p:txBody>
      </p:sp>
      <p:pic>
        <p:nvPicPr>
          <p:cNvPr id="9" name="diag_0_modelo_log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85800"/>
            <a:ext cx="896112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4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Normalização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15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548640" y="132588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1FN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Valores atómicos. Competências, áreas de interesse, contactos e setores foram separados em tabelas próprias.</a:t>
            </a:r>
            <a:endParaRPr lang="pt-PT" sz="1000"/>
          </a:p>
        </p:txBody>
      </p:sp>
      <p:sp>
        <p:nvSpPr>
          <p:cNvPr id="11" name="Text 11"/>
          <p:cNvSpPr txBox="1"/>
          <p:nvPr/>
        </p:nvSpPr>
        <p:spPr>
          <a:xfrm>
            <a:off x="3383280" y="132588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2FN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Tabelas com chave composta guardam apenas dados que dependem da chave completa, como Inscricao.</a:t>
            </a:r>
            <a:endParaRPr lang="pt-PT" sz="1000"/>
          </a:p>
        </p:txBody>
      </p:sp>
      <p:sp>
        <p:nvSpPr>
          <p:cNvPr id="12" name="Text 12"/>
          <p:cNvSpPr txBox="1"/>
          <p:nvPr/>
        </p:nvSpPr>
        <p:spPr>
          <a:xfrm>
            <a:off x="6217920" y="132588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3FN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Dados da empresa não são repetidos em Proposta ou Candidatura. A chave estrangeira aponta para Empresa.</a:t>
            </a:r>
            <a:endParaRPr lang="pt-PT" sz="1000"/>
          </a:p>
        </p:txBody>
      </p:sp>
      <p:sp>
        <p:nvSpPr>
          <p:cNvPr id="13" name="Text 13"/>
          <p:cNvSpPr txBox="1"/>
          <p:nvPr/>
        </p:nvSpPr>
        <p:spPr>
          <a:xfrm>
            <a:off x="960120" y="3246120"/>
            <a:ext cx="6583680" cy="74980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Aplicação no modelo</a:t>
            </a:r>
            <a:endParaRPr lang="pt-PT" sz="1200"/>
          </a:p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Em vez de guardar várias competências numa coluna do estudante, cada competência é uma linha própria ligada ao número mecanográfico.</a:t>
            </a:r>
            <a:endParaRPr lang="pt-PT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Implementação física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16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704088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 implementação foi feita em MySQL, respeitando a ordem das dependências entre tabelas.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731520" y="1783080"/>
            <a:ext cx="1508760" cy="310896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FFFFFF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50.0" b="1">
                <a:solidFill>
                  <a:srgbClr val="FFFFFF"/>
                </a:solidFill>
                <a:latin typeface="Arial"/>
              </a:rPr>
              <a:t>Camada</a:t>
            </a:r>
            <a:endParaRPr lang="pt-PT" sz="850.0"/>
          </a:p>
        </p:txBody>
      </p:sp>
      <p:sp>
        <p:nvSpPr>
          <p:cNvPr id="12" name="Text 12"/>
          <p:cNvSpPr txBox="1"/>
          <p:nvPr/>
        </p:nvSpPr>
        <p:spPr>
          <a:xfrm>
            <a:off x="2240280" y="1783080"/>
            <a:ext cx="3931920" cy="310896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FFFFFF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50.0" b="1">
                <a:solidFill>
                  <a:srgbClr val="FFFFFF"/>
                </a:solidFill>
                <a:latin typeface="Arial"/>
              </a:rPr>
              <a:t>O que garante</a:t>
            </a:r>
            <a:endParaRPr lang="pt-PT" sz="850.0"/>
          </a:p>
        </p:txBody>
      </p:sp>
      <p:sp>
        <p:nvSpPr>
          <p:cNvPr id="13" name="Text 13"/>
          <p:cNvSpPr txBox="1"/>
          <p:nvPr/>
        </p:nvSpPr>
        <p:spPr>
          <a:xfrm>
            <a:off x="6172200" y="1783080"/>
            <a:ext cx="2468880" cy="310896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FFFFFF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50.0" b="1">
                <a:solidFill>
                  <a:srgbClr val="FFFFFF"/>
                </a:solidFill>
                <a:latin typeface="Arial"/>
              </a:rPr>
              <a:t>Exemplo</a:t>
            </a:r>
            <a:endParaRPr lang="pt-PT" sz="850.0"/>
          </a:p>
        </p:txBody>
      </p:sp>
      <p:sp>
        <p:nvSpPr>
          <p:cNvPr id="14" name="Text 14"/>
          <p:cNvSpPr txBox="1"/>
          <p:nvPr/>
        </p:nvSpPr>
        <p:spPr>
          <a:xfrm>
            <a:off x="731520" y="2130552"/>
            <a:ext cx="15087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 b="1">
                <a:solidFill>
                  <a:srgbClr val="172033"/>
                </a:solidFill>
                <a:latin typeface="Arial"/>
              </a:rPr>
              <a:t>Domínio</a:t>
            </a:r>
            <a:endParaRPr lang="pt-PT" sz="840.0"/>
          </a:p>
        </p:txBody>
      </p:sp>
      <p:sp>
        <p:nvSpPr>
          <p:cNvPr id="15" name="Text 15"/>
          <p:cNvSpPr txBox="1"/>
          <p:nvPr/>
        </p:nvSpPr>
        <p:spPr>
          <a:xfrm>
            <a:off x="2240280" y="2130552"/>
            <a:ext cx="3931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ENUM limita valores possíveis</a:t>
            </a:r>
            <a:endParaRPr lang="pt-PT" sz="840.0"/>
          </a:p>
        </p:txBody>
      </p:sp>
      <p:sp>
        <p:nvSpPr>
          <p:cNvPr id="16" name="Text 16"/>
          <p:cNvSpPr txBox="1"/>
          <p:nvPr/>
        </p:nvSpPr>
        <p:spPr>
          <a:xfrm>
            <a:off x="6172200" y="2130552"/>
            <a:ext cx="24688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estado = Aceite / Recusada</a:t>
            </a:r>
            <a:endParaRPr lang="pt-PT" sz="840.0"/>
          </a:p>
        </p:txBody>
      </p:sp>
      <p:sp>
        <p:nvSpPr>
          <p:cNvPr id="17" name="Text 17"/>
          <p:cNvSpPr txBox="1"/>
          <p:nvPr/>
        </p:nvSpPr>
        <p:spPr>
          <a:xfrm>
            <a:off x="731520" y="2514600"/>
            <a:ext cx="1508760" cy="34747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 b="1">
                <a:solidFill>
                  <a:srgbClr val="172033"/>
                </a:solidFill>
                <a:latin typeface="Arial"/>
              </a:rPr>
              <a:t>Obrigatoriedade</a:t>
            </a:r>
            <a:endParaRPr lang="pt-PT" sz="840.0"/>
          </a:p>
        </p:txBody>
      </p:sp>
      <p:sp>
        <p:nvSpPr>
          <p:cNvPr id="18" name="Text 18"/>
          <p:cNvSpPr txBox="1"/>
          <p:nvPr/>
        </p:nvSpPr>
        <p:spPr>
          <a:xfrm>
            <a:off x="2240280" y="2514600"/>
            <a:ext cx="3931920" cy="34747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NOT NULL em campos essenciais</a:t>
            </a:r>
            <a:endParaRPr lang="pt-PT" sz="840.0"/>
          </a:p>
        </p:txBody>
      </p:sp>
      <p:sp>
        <p:nvSpPr>
          <p:cNvPr id="19" name="Text 19"/>
          <p:cNvSpPr txBox="1"/>
          <p:nvPr/>
        </p:nvSpPr>
        <p:spPr>
          <a:xfrm>
            <a:off x="6172200" y="2514600"/>
            <a:ext cx="2468880" cy="34747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email, título, datas</a:t>
            </a:r>
            <a:endParaRPr lang="pt-PT" sz="840.0"/>
          </a:p>
        </p:txBody>
      </p:sp>
      <p:sp>
        <p:nvSpPr>
          <p:cNvPr id="20" name="Text 20"/>
          <p:cNvSpPr txBox="1"/>
          <p:nvPr/>
        </p:nvSpPr>
        <p:spPr>
          <a:xfrm>
            <a:off x="731520" y="2898648"/>
            <a:ext cx="15087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 b="1">
                <a:solidFill>
                  <a:srgbClr val="172033"/>
                </a:solidFill>
                <a:latin typeface="Arial"/>
              </a:rPr>
              <a:t>Referência</a:t>
            </a:r>
            <a:endParaRPr lang="pt-PT" sz="840.0"/>
          </a:p>
        </p:txBody>
      </p:sp>
      <p:sp>
        <p:nvSpPr>
          <p:cNvPr id="21" name="Text 21"/>
          <p:cNvSpPr txBox="1"/>
          <p:nvPr/>
        </p:nvSpPr>
        <p:spPr>
          <a:xfrm>
            <a:off x="2240280" y="2898648"/>
            <a:ext cx="3931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FOREIGN KEY liga tabelas</a:t>
            </a:r>
            <a:endParaRPr lang="pt-PT" sz="840.0"/>
          </a:p>
        </p:txBody>
      </p:sp>
      <p:sp>
        <p:nvSpPr>
          <p:cNvPr id="22" name="Text 22"/>
          <p:cNvSpPr txBox="1"/>
          <p:nvPr/>
        </p:nvSpPr>
        <p:spPr>
          <a:xfrm>
            <a:off x="6172200" y="2898648"/>
            <a:ext cx="24688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Proposta → Empresa</a:t>
            </a:r>
            <a:endParaRPr lang="pt-PT" sz="840.0"/>
          </a:p>
        </p:txBody>
      </p:sp>
      <p:sp>
        <p:nvSpPr>
          <p:cNvPr id="23" name="Text 23"/>
          <p:cNvSpPr txBox="1"/>
          <p:nvPr/>
        </p:nvSpPr>
        <p:spPr>
          <a:xfrm>
            <a:off x="731520" y="3282696"/>
            <a:ext cx="1508760" cy="34747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 b="1">
                <a:solidFill>
                  <a:srgbClr val="172033"/>
                </a:solidFill>
                <a:latin typeface="Arial"/>
              </a:rPr>
              <a:t>Regra</a:t>
            </a:r>
            <a:endParaRPr lang="pt-PT" sz="840.0"/>
          </a:p>
        </p:txBody>
      </p:sp>
      <p:sp>
        <p:nvSpPr>
          <p:cNvPr id="24" name="Text 24"/>
          <p:cNvSpPr txBox="1"/>
          <p:nvPr/>
        </p:nvSpPr>
        <p:spPr>
          <a:xfrm>
            <a:off x="2240280" y="3282696"/>
            <a:ext cx="3931920" cy="34747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CHECK bloqueia dados inválidos</a:t>
            </a:r>
            <a:endParaRPr lang="pt-PT" sz="840.0"/>
          </a:p>
        </p:txBody>
      </p:sp>
      <p:sp>
        <p:nvSpPr>
          <p:cNvPr id="25" name="Text 25"/>
          <p:cNvSpPr txBox="1"/>
          <p:nvPr/>
        </p:nvSpPr>
        <p:spPr>
          <a:xfrm>
            <a:off x="6172200" y="3282696"/>
            <a:ext cx="2468880" cy="34747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E7ECF1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40.0">
                <a:solidFill>
                  <a:srgbClr val="172033"/>
                </a:solidFill>
                <a:latin typeface="Arial"/>
              </a:rPr>
              <a:t>lotação &gt; 0</a:t>
            </a:r>
            <a:endParaRPr lang="pt-PT" sz="840.0"/>
          </a:p>
        </p:txBody>
      </p:sp>
      <p:sp>
        <p:nvSpPr>
          <p:cNvPr id="26" name="Text 26"/>
          <p:cNvSpPr txBox="1"/>
          <p:nvPr/>
        </p:nvSpPr>
        <p:spPr>
          <a:xfrm>
            <a:off x="749808" y="41605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4F6070"/>
                </a:solidFill>
                <a:latin typeface="Arial"/>
              </a:rPr>
              <a:t>A base foi criada com tabelas-mestre primeiro e só depois as tabelas que dependem delas.</a:t>
            </a:r>
            <a:endParaRPr lang="pt-PT" sz="1050.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Povoamento e dimensão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17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 povoamento foi usado para testar o modelo com dados realistas e validar restrições.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85800" y="169164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Povoamento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O script insere salas, empresas, estudantes, propostas, candidaturas, palestras, inscrições e avaliações.</a:t>
            </a:r>
            <a:endParaRPr lang="pt-PT" sz="1050.0"/>
          </a:p>
        </p:txBody>
      </p:sp>
      <p:sp>
        <p:nvSpPr>
          <p:cNvPr id="12" name="Text 12"/>
          <p:cNvSpPr txBox="1"/>
          <p:nvPr/>
        </p:nvSpPr>
        <p:spPr>
          <a:xfrm>
            <a:off x="4617720" y="169164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Validação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Os dados testam chaves estrangeiras, estados, lotação de salas e fluxos de candidatura.</a:t>
            </a:r>
            <a:endParaRPr lang="pt-PT" sz="1050.0"/>
          </a:p>
        </p:txBody>
      </p:sp>
      <p:sp>
        <p:nvSpPr>
          <p:cNvPr id="13" name="Text 13"/>
          <p:cNvSpPr txBox="1"/>
          <p:nvPr/>
        </p:nvSpPr>
        <p:spPr>
          <a:xfrm>
            <a:off x="868680" y="336499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0B5394"/>
                </a:solidFill>
                <a:latin typeface="Arial"/>
              </a:rPr>
              <a:t>3000</a:t>
            </a:r>
            <a:endParaRPr lang="pt-PT" sz="2400"/>
          </a:p>
        </p:txBody>
      </p:sp>
      <p:sp>
        <p:nvSpPr>
          <p:cNvPr id="14" name="Text 14"/>
          <p:cNvSpPr txBox="1"/>
          <p:nvPr/>
        </p:nvSpPr>
        <p:spPr>
          <a:xfrm>
            <a:off x="868680" y="374904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estudantes estimados</a:t>
            </a:r>
            <a:endParaRPr lang="pt-PT" sz="850.0"/>
          </a:p>
        </p:txBody>
      </p:sp>
      <p:sp>
        <p:nvSpPr>
          <p:cNvPr id="15" name="Text 15"/>
          <p:cNvSpPr txBox="1"/>
          <p:nvPr/>
        </p:nvSpPr>
        <p:spPr>
          <a:xfrm>
            <a:off x="2743200" y="336499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2E7D32"/>
                </a:solidFill>
                <a:latin typeface="Arial"/>
              </a:rPr>
              <a:t>9000</a:t>
            </a:r>
            <a:endParaRPr lang="pt-PT" sz="2400"/>
          </a:p>
        </p:txBody>
      </p:sp>
      <p:sp>
        <p:nvSpPr>
          <p:cNvPr id="16" name="Text 16"/>
          <p:cNvSpPr txBox="1"/>
          <p:nvPr/>
        </p:nvSpPr>
        <p:spPr>
          <a:xfrm>
            <a:off x="2743200" y="3749040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candidaturas estimadas</a:t>
            </a:r>
            <a:endParaRPr lang="pt-PT" sz="850.0"/>
          </a:p>
        </p:txBody>
      </p:sp>
      <p:sp>
        <p:nvSpPr>
          <p:cNvPr id="17" name="Text 17"/>
          <p:cNvSpPr txBox="1"/>
          <p:nvPr/>
        </p:nvSpPr>
        <p:spPr>
          <a:xfrm>
            <a:off x="4800600" y="336499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0B5394"/>
                </a:solidFill>
                <a:latin typeface="Arial"/>
              </a:rPr>
              <a:t>500</a:t>
            </a:r>
            <a:endParaRPr lang="pt-PT" sz="2400"/>
          </a:p>
        </p:txBody>
      </p:sp>
      <p:sp>
        <p:nvSpPr>
          <p:cNvPr id="18" name="Text 18"/>
          <p:cNvSpPr txBox="1"/>
          <p:nvPr/>
        </p:nvSpPr>
        <p:spPr>
          <a:xfrm>
            <a:off x="4800600" y="374904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propostas estimadas</a:t>
            </a:r>
            <a:endParaRPr lang="pt-PT" sz="850.0"/>
          </a:p>
        </p:txBody>
      </p:sp>
      <p:sp>
        <p:nvSpPr>
          <p:cNvPr id="19" name="Text 19"/>
          <p:cNvSpPr txBox="1"/>
          <p:nvPr/>
        </p:nvSpPr>
        <p:spPr>
          <a:xfrm>
            <a:off x="6720840" y="336499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2400" b="1">
                <a:solidFill>
                  <a:srgbClr val="F6C343"/>
                </a:solidFill>
                <a:latin typeface="Arial"/>
              </a:rPr>
              <a:t>3,32 MB</a:t>
            </a:r>
            <a:endParaRPr lang="pt-PT" sz="2400"/>
          </a:p>
        </p:txBody>
      </p:sp>
      <p:sp>
        <p:nvSpPr>
          <p:cNvPr id="20" name="Text 20"/>
          <p:cNvSpPr txBox="1"/>
          <p:nvPr/>
        </p:nvSpPr>
        <p:spPr>
          <a:xfrm>
            <a:off x="6720840" y="374904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pt-PT" sz="850.0">
                <a:solidFill>
                  <a:srgbClr val="4F6070"/>
                </a:solidFill>
                <a:latin typeface="Arial"/>
              </a:rPr>
              <a:t>tamanho inicial calculado</a:t>
            </a:r>
            <a:endParaRPr lang="pt-PT" sz="850.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Indexação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18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7665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 indexação foi usada de forma simples e direcionada às consultas mais prováveis.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731520" y="1627632"/>
            <a:ext cx="3108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idx_palestra_data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Criado sobre Palestra(data).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/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Acelera consultas de agenda diária e pesquisa de palestras por data.</a:t>
            </a:r>
            <a:endParaRPr lang="pt-PT" sz="1050.0"/>
          </a:p>
        </p:txBody>
      </p:sp>
      <p:sp>
        <p:nvSpPr>
          <p:cNvPr id="12" name="Text 12"/>
          <p:cNvSpPr txBox="1"/>
          <p:nvPr/>
        </p:nvSpPr>
        <p:spPr>
          <a:xfrm>
            <a:off x="4572000" y="1627632"/>
            <a:ext cx="31089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idx_candidatura_estado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Criado sobre Candidatura(estado).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/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>
                <a:solidFill>
                  <a:srgbClr val="172033"/>
                </a:solidFill>
                <a:latin typeface="Arial"/>
              </a:rPr>
              <a:t>Acelera relatórios e filtros por estado da candidatura.</a:t>
            </a:r>
            <a:endParaRPr lang="pt-PT" sz="1050.0"/>
          </a:p>
        </p:txBody>
      </p:sp>
      <p:sp>
        <p:nvSpPr>
          <p:cNvPr id="13" name="Text 13"/>
          <p:cNvSpPr txBox="1"/>
          <p:nvPr/>
        </p:nvSpPr>
        <p:spPr>
          <a:xfrm>
            <a:off x="1097280" y="3703320"/>
            <a:ext cx="6492240" cy="65836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Estratégia de indexação</a:t>
            </a:r>
            <a:endParaRPr lang="pt-PT" sz="1200"/>
          </a:p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Não foram criados índices em tudo. Foram escolhidos campos usados frequentemente em filtros e relatórios.</a:t>
            </a:r>
            <a:endParaRPr lang="pt-PT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Views e consultas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19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As views simplificam a leitura dos dados e tornam as consultas mais adequadas a cada perfil de utilizador.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548640" y="1627632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v_candidatos_por_empresa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Apresenta candidaturas, estado, proposta, candidato e empresa.</a:t>
            </a:r>
            <a:endParaRPr lang="pt-PT" sz="950.0"/>
          </a:p>
        </p:txBody>
      </p:sp>
      <p:sp>
        <p:nvSpPr>
          <p:cNvPr id="12" name="Text 12"/>
          <p:cNvSpPr txBox="1"/>
          <p:nvPr/>
        </p:nvSpPr>
        <p:spPr>
          <a:xfrm>
            <a:off x="3310128" y="1627632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v_propostas_populares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Conta candidaturas por proposta e ordena por procura.</a:t>
            </a:r>
            <a:endParaRPr lang="pt-PT" sz="950.0"/>
          </a:p>
        </p:txBody>
      </p:sp>
      <p:sp>
        <p:nvSpPr>
          <p:cNvPr id="13" name="Text 13"/>
          <p:cNvSpPr txBox="1"/>
          <p:nvPr/>
        </p:nvSpPr>
        <p:spPr>
          <a:xfrm>
            <a:off x="6071616" y="1627632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v_mapa_bancas</a:t>
            </a:r>
            <a:endParaRPr lang="pt-PT" sz="950.0"/>
          </a:p>
          <a:p>
            <a:pPr algn="l">
              <a:lnSpc>
                <a:spcPct val="112000"/>
              </a:lnSpc>
              <a:buNone/>
            </a:pPr>
            <a:r>
              <a:rPr lang="pt-PT" sz="950.0">
                <a:solidFill>
                  <a:srgbClr val="172033"/>
                </a:solidFill>
                <a:latin typeface="Arial"/>
              </a:rPr>
              <a:t>Lista zona, número da banca, empresa e contacto.</a:t>
            </a:r>
            <a:endParaRPr lang="pt-PT" sz="950.0"/>
          </a:p>
        </p:txBody>
      </p:sp>
      <p:sp>
        <p:nvSpPr>
          <p:cNvPr id="14" name="Text 14"/>
          <p:cNvSpPr txBox="1"/>
          <p:nvPr/>
        </p:nvSpPr>
        <p:spPr>
          <a:xfrm>
            <a:off x="640080" y="30632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300" b="1">
                <a:solidFill>
                  <a:srgbClr val="073763"/>
                </a:solidFill>
                <a:latin typeface="Arial"/>
              </a:rPr>
              <a:t>Questões respondidas pelo SQL</a:t>
            </a:r>
            <a:endParaRPr lang="pt-PT" sz="1300"/>
          </a:p>
        </p:txBody>
      </p:sp>
      <p:sp>
        <p:nvSpPr>
          <p:cNvPr id="15" name="Text 15"/>
          <p:cNvSpPr txBox="1"/>
          <p:nvPr/>
        </p:nvSpPr>
        <p:spPr>
          <a:xfrm>
            <a:off x="777240" y="3429000"/>
            <a:ext cx="603504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Que estudantes nunca submeteram candidaturas?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Que oradores participaram em mais do que uma palestra?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Qual é a agenda diária de um estudante?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Quais são as 10 propostas com mais candidaturas?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• Que empresas têm propostas sem candidaturas?</a:t>
            </a:r>
            <a:endParaRPr lang="pt-PT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Interrogações SQL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20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As consultas SQL validam se o modelo responde às questões reais dos utilizadores.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594360" y="1600200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RM02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Estudantes sem candidaturas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/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LEFT JOIN entre Estudante e Candidatura; filtra onde não existe candidatura.</a:t>
            </a:r>
            <a:endParaRPr lang="pt-PT" sz="980.0000000000001"/>
          </a:p>
        </p:txBody>
      </p:sp>
      <p:sp>
        <p:nvSpPr>
          <p:cNvPr id="12" name="Text 12"/>
          <p:cNvSpPr txBox="1"/>
          <p:nvPr/>
        </p:nvSpPr>
        <p:spPr>
          <a:xfrm>
            <a:off x="3337560" y="1600200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RM07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Agenda diária do estudante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/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UNION entre palestras aceites e entrevistas marcadas.</a:t>
            </a:r>
            <a:endParaRPr lang="pt-PT" sz="980.0000000000001"/>
          </a:p>
        </p:txBody>
      </p:sp>
      <p:sp>
        <p:nvSpPr>
          <p:cNvPr id="13" name="Text 13"/>
          <p:cNvSpPr txBox="1"/>
          <p:nvPr/>
        </p:nvSpPr>
        <p:spPr>
          <a:xfrm>
            <a:off x="6080760" y="1600200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RM09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Propostas mais procuradas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/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COUNT de candidaturas por proposta, ordenado por total.</a:t>
            </a:r>
            <a:endParaRPr lang="pt-PT" sz="980.0000000000001"/>
          </a:p>
        </p:txBody>
      </p:sp>
      <p:sp>
        <p:nvSpPr>
          <p:cNvPr id="14" name="Text 14"/>
          <p:cNvSpPr txBox="1"/>
          <p:nvPr/>
        </p:nvSpPr>
        <p:spPr>
          <a:xfrm>
            <a:off x="1874520" y="3520440"/>
            <a:ext cx="5394960" cy="731520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50.0" b="1">
                <a:solidFill>
                  <a:srgbClr val="073763"/>
                </a:solidFill>
                <a:latin typeface="Arial"/>
              </a:rPr>
              <a:t>RM10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 b="1">
                <a:solidFill>
                  <a:srgbClr val="073763"/>
                </a:solidFill>
                <a:latin typeface="Arial"/>
              </a:rPr>
              <a:t>Empresas com propostas sem candidaturas</a:t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 b="1">
                <a:solidFill>
                  <a:srgbClr val="073763"/>
                </a:solidFill>
                <a:latin typeface="Arial"/>
              </a:rPr>
              <a:t/>
            </a:r>
            <a:endParaRPr lang="pt-PT" sz="1050.0"/>
          </a:p>
          <a:p>
            <a:pPr algn="l">
              <a:lnSpc>
                <a:spcPct val="112000"/>
              </a:lnSpc>
              <a:buNone/>
            </a:pPr>
            <a:r>
              <a:rPr lang="pt-PT" sz="1050.0" b="1">
                <a:solidFill>
                  <a:srgbClr val="073763"/>
                </a:solidFill>
                <a:latin typeface="Arial"/>
              </a:rPr>
              <a:t>NOT EXISTS identifica propostas sem registos associados em Candidatura.</a:t>
            </a:r>
            <a:endParaRPr lang="pt-PT" sz="1050.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Segurança e perfis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21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O controlo de acessos foi modelado com RBAC: permissões atribuídas por perfil, não caso a caso.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685800" y="1691640"/>
            <a:ext cx="2194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staff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Controlo total sobre a base e gestão das estruturas do evento.</a:t>
            </a:r>
            <a:endParaRPr lang="pt-PT" sz="1100"/>
          </a:p>
        </p:txBody>
      </p:sp>
      <p:sp>
        <p:nvSpPr>
          <p:cNvPr id="12" name="Text 12"/>
          <p:cNvSpPr txBox="1"/>
          <p:nvPr/>
        </p:nvSpPr>
        <p:spPr>
          <a:xfrm>
            <a:off x="3154680" y="1691640"/>
            <a:ext cx="2194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empresa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Acesso limitado a consultas relevantes, sobretudo candidaturas e mapa de bancas.</a:t>
            </a:r>
            <a:endParaRPr lang="pt-PT" sz="1100"/>
          </a:p>
        </p:txBody>
      </p:sp>
      <p:sp>
        <p:nvSpPr>
          <p:cNvPr id="13" name="Text 13"/>
          <p:cNvSpPr txBox="1"/>
          <p:nvPr/>
        </p:nvSpPr>
        <p:spPr>
          <a:xfrm>
            <a:off x="5623560" y="1691640"/>
            <a:ext cx="2194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estudante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>
                <a:solidFill>
                  <a:srgbClr val="172033"/>
                </a:solidFill>
                <a:latin typeface="Arial"/>
              </a:rPr>
              <a:t>Consulta propostas e palestras; submete inscrições e candidaturas.</a:t>
            </a:r>
            <a:endParaRPr lang="pt-PT" sz="1100"/>
          </a:p>
        </p:txBody>
      </p:sp>
      <p:sp>
        <p:nvSpPr>
          <p:cNvPr id="14" name="Text 14"/>
          <p:cNvSpPr txBox="1"/>
          <p:nvPr/>
        </p:nvSpPr>
        <p:spPr>
          <a:xfrm>
            <a:off x="960120" y="3429000"/>
            <a:ext cx="6583680" cy="749808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Evolução prevista</a:t>
            </a:r>
            <a:endParaRPr lang="pt-PT" sz="1200"/>
          </a:p>
          <a:p>
            <a:pPr algn="l">
              <a:lnSpc>
                <a:spcPct val="112000"/>
              </a:lnSpc>
              <a:buNone/>
            </a:pPr>
            <a:r>
              <a:rPr lang="pt-PT" sz="1200" b="1">
                <a:solidFill>
                  <a:srgbClr val="073763"/>
                </a:solidFill>
                <a:latin typeface="Arial"/>
              </a:rPr>
              <a:t>Uma melhoria futura seria ligar cada utilizador de empresa à sua própria empresa, garantindo filtragem ainda mais fina.</a:t>
            </a:r>
            <a:endParaRPr lang="pt-PT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CAPÍTULO 5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Automação no SGBD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22</a:t>
            </a:r>
            <a:endParaRPr lang="pt-PT" sz="700"/>
          </a:p>
        </p:txBody>
      </p:sp>
      <p:sp>
        <p:nvSpPr>
          <p:cNvPr id="10" name="Text 10"/>
          <p:cNvSpPr txBox="1"/>
          <p:nvPr/>
        </p:nvSpPr>
        <p:spPr>
          <a:xfrm>
            <a:off x="411480" y="1115568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200">
                <a:solidFill>
                  <a:srgbClr val="172033"/>
                </a:solidFill>
                <a:latin typeface="Arial"/>
              </a:rPr>
              <a:t>Triggers, funções e procedimentos permitem que algumas regras fiquem no próprio SGBD.</a:t>
            </a:r>
            <a:endParaRPr lang="pt-PT" sz="1200"/>
          </a:p>
        </p:txBody>
      </p:sp>
      <p:sp>
        <p:nvSpPr>
          <p:cNvPr id="11" name="Text 11"/>
          <p:cNvSpPr txBox="1"/>
          <p:nvPr/>
        </p:nvSpPr>
        <p:spPr>
          <a:xfrm>
            <a:off x="548640" y="1572768"/>
            <a:ext cx="24231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Trigger de lotação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verificar_lotacao_palestra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/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Antes de inserir uma inscrição, verifica a lotação da sala e define o estado.</a:t>
            </a:r>
            <a:endParaRPr lang="pt-PT" sz="980.0000000000001"/>
          </a:p>
        </p:txBody>
      </p:sp>
      <p:sp>
        <p:nvSpPr>
          <p:cNvPr id="12" name="Text 12"/>
          <p:cNvSpPr txBox="1"/>
          <p:nvPr/>
        </p:nvSpPr>
        <p:spPr>
          <a:xfrm>
            <a:off x="3355848" y="1572768"/>
            <a:ext cx="24231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Trigger de entrevista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trg_criar_avaliacao_entrevista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/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Quando uma candidatura passa para Aceite, cria uma avaliação associada.</a:t>
            </a:r>
            <a:endParaRPr lang="pt-PT" sz="980.0000000000001"/>
          </a:p>
        </p:txBody>
      </p:sp>
      <p:sp>
        <p:nvSpPr>
          <p:cNvPr id="13" name="Text 13"/>
          <p:cNvSpPr txBox="1"/>
          <p:nvPr/>
        </p:nvSpPr>
        <p:spPr>
          <a:xfrm>
            <a:off x="6163056" y="1572768"/>
            <a:ext cx="24231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Rotinas SQL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Função e procedimento</a:t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/>
            </a:r>
            <a:endParaRPr lang="pt-PT" sz="980.0000000000001"/>
          </a:p>
          <a:p>
            <a:pPr algn="l">
              <a:lnSpc>
                <a:spcPct val="112000"/>
              </a:lnSpc>
              <a:buNone/>
            </a:pPr>
            <a:r>
              <a:rPr lang="pt-PT" sz="980.0000000000001">
                <a:solidFill>
                  <a:srgbClr val="172033"/>
                </a:solidFill>
                <a:latin typeface="Arial"/>
              </a:rPr>
              <a:t>contar_candidaturas_aceites e listar_propostas_por_setor apoiam relatórios e consultas recorrentes.</a:t>
            </a:r>
            <a:endParaRPr lang="pt-PT" sz="980.0000000000001"/>
          </a:p>
        </p:txBody>
      </p:sp>
      <p:sp>
        <p:nvSpPr>
          <p:cNvPr id="14" name="Text 14"/>
          <p:cNvSpPr txBox="1"/>
          <p:nvPr/>
        </p:nvSpPr>
        <p:spPr>
          <a:xfrm>
            <a:off x="960120" y="3977640"/>
            <a:ext cx="6583680" cy="53035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073763"/>
                </a:solidFill>
                <a:latin typeface="Arial"/>
              </a:rPr>
              <a:t>Representação das speed interviews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073763"/>
                </a:solidFill>
                <a:latin typeface="Arial"/>
              </a:rPr>
              <a:t>As entrevistas rápidas foram representadas pela tabela Avaliacao, ligada a Candidatura.</a:t>
            </a:r>
            <a:endParaRPr lang="pt-PT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BFD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00" cy="100584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7376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0040" y="2011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800" b="1">
                <a:solidFill>
                  <a:srgbClr val="0B5394"/>
                </a:solidFill>
                <a:latin typeface="Arial"/>
              </a:rPr>
              <a:t>FECHO</a:t>
            </a:r>
            <a:endParaRPr lang="pt-PT" sz="800"/>
          </a:p>
        </p:txBody>
      </p:sp>
      <p:sp>
        <p:nvSpPr>
          <p:cNvPr id="6" name="Text 6"/>
          <p:cNvSpPr txBox="1"/>
          <p:nvPr/>
        </p:nvSpPr>
        <p:spPr>
          <a:xfrm>
            <a:off x="320040" y="4572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2200" b="1">
                <a:solidFill>
                  <a:srgbClr val="073763"/>
                </a:solidFill>
                <a:latin typeface="Arial"/>
              </a:rPr>
              <a:t>Conclusão</a:t>
            </a:r>
            <a:endParaRPr lang="pt-PT" sz="2200"/>
          </a:p>
        </p:txBody>
      </p:sp>
      <p:sp>
        <p:nvSpPr>
          <p:cNvPr id="7" name="Shape 7"/>
          <p:cNvSpPr/>
          <p:nvPr/>
        </p:nvSpPr>
        <p:spPr>
          <a:xfrm>
            <a:off x="320040" y="932688"/>
            <a:ext cx="1737360" cy="32004"/>
          </a:xfrm>
          <a:prstGeom prst="rect">
            <a:avLst/>
          </a:prstGeom>
          <a:solidFill>
            <a:srgbClr val="F6C343"/>
          </a:solidFill>
          <a:ln>
            <a:noFill/>
          </a:ln>
        </p:spPr>
      </p:sp>
      <p:pic>
        <p:nvPicPr>
          <p:cNvPr id="8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"/>
            <a:ext cx="502920" cy="502920"/>
          </a:xfrm>
          <a:prstGeom prst="rect">
            <a:avLst/>
          </a:prstGeom>
        </p:spPr>
      </p:pic>
      <p:sp>
        <p:nvSpPr>
          <p:cNvPr id="9" name="Text 9"/>
          <p:cNvSpPr txBox="1"/>
          <p:nvPr/>
        </p:nvSpPr>
        <p:spPr>
          <a:xfrm>
            <a:off x="8668512" y="48280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pt-PT" sz="700" b="1">
                <a:solidFill>
                  <a:srgbClr val="FFFFFF"/>
                </a:solidFill>
                <a:latin typeface="Arial"/>
              </a:rPr>
              <a:t>23</a:t>
            </a:r>
            <a:endParaRPr lang="pt-PT" sz="700"/>
          </a:p>
        </p:txBody>
      </p:sp>
      <p:pic>
        <p:nvPicPr>
          <p:cNvPr id="10" name="fen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896112"/>
            <a:ext cx="1417320" cy="141732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94360" y="120700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700" b="1">
                <a:solidFill>
                  <a:srgbClr val="073763"/>
                </a:solidFill>
                <a:latin typeface="Arial"/>
              </a:rPr>
              <a:t>A solução proposta transforma informação dispersa numa base de dados centralizada, normalizada e preparada para apoiar a gestão da FENUM.</a:t>
            </a:r>
            <a:endParaRPr lang="pt-PT" sz="1700"/>
          </a:p>
        </p:txBody>
      </p:sp>
      <p:sp>
        <p:nvSpPr>
          <p:cNvPr id="12" name="Text 12"/>
          <p:cNvSpPr txBox="1"/>
          <p:nvPr/>
        </p:nvSpPr>
        <p:spPr>
          <a:xfrm>
            <a:off x="566928" y="242316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Consistência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Modelo relacional em 3FN, com chaves primárias, chaves estrangeiras, domínios e restrições para proteger a qualidade dos dados.</a:t>
            </a:r>
            <a:endParaRPr lang="pt-PT" sz="1000"/>
          </a:p>
        </p:txBody>
      </p:sp>
      <p:sp>
        <p:nvSpPr>
          <p:cNvPr id="13" name="Text 13"/>
          <p:cNvSpPr txBox="1"/>
          <p:nvPr/>
        </p:nvSpPr>
        <p:spPr>
          <a:xfrm>
            <a:off x="3355848" y="242316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Operação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Gestão integrada de estudantes, empresas, propostas, candidaturas, palestras, inscrições, bancas e equipa organizadora.</a:t>
            </a:r>
            <a:endParaRPr lang="pt-PT" sz="1000"/>
          </a:p>
        </p:txBody>
      </p:sp>
      <p:sp>
        <p:nvSpPr>
          <p:cNvPr id="14" name="Text 14"/>
          <p:cNvSpPr txBox="1"/>
          <p:nvPr/>
        </p:nvSpPr>
        <p:spPr>
          <a:xfrm>
            <a:off x="6144768" y="242316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6C343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Decisão</a:t>
            </a:r>
            <a:endParaRPr lang="pt-PT" sz="1000"/>
          </a:p>
          <a:p>
            <a:pPr algn="l">
              <a:lnSpc>
                <a:spcPct val="112000"/>
              </a:lnSpc>
              <a:buNone/>
            </a:pPr>
            <a:r>
              <a:rPr lang="pt-PT" sz="1000">
                <a:solidFill>
                  <a:srgbClr val="172033"/>
                </a:solidFill>
                <a:latin typeface="Arial"/>
              </a:rPr>
              <a:t>Views, consultas e índices permitem acompanhar procura, agendas, candidaturas e distribuição de espaços.</a:t>
            </a:r>
            <a:endParaRPr lang="pt-PT" sz="1000"/>
          </a:p>
        </p:txBody>
      </p:sp>
      <p:sp>
        <p:nvSpPr>
          <p:cNvPr id="15" name="Text 15"/>
          <p:cNvSpPr txBox="1"/>
          <p:nvPr/>
        </p:nvSpPr>
        <p:spPr>
          <a:xfrm>
            <a:off x="1143000" y="3977640"/>
            <a:ext cx="6675120" cy="621792"/>
          </a:xfrm>
          <a:prstGeom prst="roundRect">
            <a:avLst/>
          </a:prstGeom>
          <a:solidFill>
            <a:srgbClr val="EEF6FC"/>
          </a:solidFill>
          <a:ln w="12700">
            <a:solidFill>
              <a:srgbClr val="0B5394"/>
            </a:solidFill>
          </a:ln>
        </p:spPr>
        <p:txBody>
          <a:bodyPr wrap="square" lIns="91440" tIns="68580" rIns="91440" bIns="6858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073763"/>
                </a:solidFill>
                <a:latin typeface="Arial"/>
              </a:rPr>
              <a:t>Trabalho futuro</a:t>
            </a:r>
            <a:endParaRPr lang="pt-PT" sz="1100"/>
          </a:p>
          <a:p>
            <a:pPr algn="l">
              <a:lnSpc>
                <a:spcPct val="112000"/>
              </a:lnSpc>
              <a:buNone/>
            </a:pPr>
            <a:r>
              <a:rPr lang="pt-PT" sz="1100" b="1">
                <a:solidFill>
                  <a:srgbClr val="073763"/>
                </a:solidFill>
                <a:latin typeface="Arial"/>
              </a:rPr>
              <a:t>Maior granularidade nas permissões por empresa, auditoria de operações críticas e melhoria do agendamento de entrevistas.</a:t>
            </a:r>
            <a:endParaRPr lang="pt-PT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2026-05-31T14:38:42Z</dcterms:created>
  <dcterms:modified xsi:type="dcterms:W3CDTF">2026-05-31T14:38:42Z</dcterms:modified>
</cp:coreProperties>
</file>